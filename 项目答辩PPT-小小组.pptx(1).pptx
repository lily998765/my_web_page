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  <p:sldId id="269" r:id="rId8"/>
    <p:sldId id="266" r:id="rId9"/>
    <p:sldId id="267" r:id="rId10"/>
    <p:sldId id="268" r:id="rId11"/>
    <p:sldId id="271" r:id="rId12"/>
    <p:sldId id="272" r:id="rId13"/>
    <p:sldId id="273" r:id="rId14"/>
    <p:sldId id="274" r:id="rId15"/>
    <p:sldId id="262" r:id="rId16"/>
    <p:sldId id="263" r:id="rId17"/>
    <p:sldId id="264" r:id="rId18"/>
    <p:sldId id="265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DAC6"/>
    <a:srgbClr val="DFCAA7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本卡片_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914400" y="2082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2641600"/>
            <a:ext cx="28448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673600" y="2082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673600" y="2641600"/>
            <a:ext cx="28448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432800" y="2082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432800" y="2641600"/>
            <a:ext cx="28448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72.xml"/><Relationship Id="rId18" Type="http://schemas.openxmlformats.org/officeDocument/2006/relationships/tags" Target="../tags/tag7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>
            <a:alphaModFix amt="62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2.xml"/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3" Type="http://schemas.openxmlformats.org/officeDocument/2006/relationships/slideLayout" Target="../slideLayouts/slideLayout12.xml"/><Relationship Id="rId12" Type="http://schemas.openxmlformats.org/officeDocument/2006/relationships/tags" Target="../tags/tag85.xml"/><Relationship Id="rId11" Type="http://schemas.openxmlformats.org/officeDocument/2006/relationships/tags" Target="../tags/tag84.xml"/><Relationship Id="rId10" Type="http://schemas.openxmlformats.org/officeDocument/2006/relationships/tags" Target="../tags/tag83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8.xml"/><Relationship Id="rId4" Type="http://schemas.openxmlformats.org/officeDocument/2006/relationships/image" Target="../media/image3.jpeg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91.xml"/><Relationship Id="rId6" Type="http://schemas.openxmlformats.org/officeDocument/2006/relationships/image" Target="../media/image6.jpeg"/><Relationship Id="rId5" Type="http://schemas.openxmlformats.org/officeDocument/2006/relationships/tags" Target="../tags/tag90.xml"/><Relationship Id="rId4" Type="http://schemas.openxmlformats.org/officeDocument/2006/relationships/image" Target="../media/image5.jpeg"/><Relationship Id="rId3" Type="http://schemas.openxmlformats.org/officeDocument/2006/relationships/tags" Target="../tags/tag89.xml"/><Relationship Id="rId2" Type="http://schemas.openxmlformats.org/officeDocument/2006/relationships/image" Target="../media/image4.jpe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0.xml"/><Relationship Id="rId4" Type="http://schemas.openxmlformats.org/officeDocument/2006/relationships/image" Target="../media/image7.png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3.xml"/><Relationship Id="rId4" Type="http://schemas.openxmlformats.org/officeDocument/2006/relationships/image" Target="../media/image8.png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5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24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62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321435" y="914400"/>
            <a:ext cx="9676765" cy="2513965"/>
          </a:xfrm>
        </p:spPr>
        <p:txBody>
          <a:bodyPr>
            <a:normAutofit fontScale="90000"/>
          </a:bodyPr>
          <a:p>
            <a:pPr algn="ctr"/>
            <a:br>
              <a:rPr lang="zh-CN" altLang="en-US" sz="2400" i="1"/>
            </a:br>
            <a:r>
              <a:rPr lang="zh-CN" altLang="en-US" sz="7300" b="1"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一纸一墨，一案一境</a:t>
            </a:r>
            <a:br>
              <a:rPr lang="zh-CN" altLang="en-US" sz="7300" b="1"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</a:br>
            <a:r>
              <a:rPr lang="zh-CN" altLang="en-US" sz="7300" b="1"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 </a:t>
            </a:r>
            <a:r>
              <a:rPr lang="en-US" altLang="zh-CN" sz="2400" i="1"/>
              <a:t>——</a:t>
            </a:r>
            <a:r>
              <a:rPr lang="zh-CN" altLang="en-US" sz="2400" i="1"/>
              <a:t>基于</a:t>
            </a:r>
            <a:r>
              <a:rPr lang="en-US" altLang="zh-CN" sz="2400" i="1"/>
              <a:t>AI</a:t>
            </a:r>
            <a:r>
              <a:rPr lang="zh-CN" altLang="en-US" sz="2400" i="1"/>
              <a:t>辅助开发的国风文创品牌展示页面设计与实现</a:t>
            </a:r>
            <a:endParaRPr lang="zh-CN" altLang="en-US" sz="2400" i="1"/>
          </a:p>
        </p:txBody>
      </p:sp>
      <p:sp>
        <p:nvSpPr>
          <p:cNvPr id="4" name="文本框 3"/>
          <p:cNvSpPr txBox="1"/>
          <p:nvPr/>
        </p:nvSpPr>
        <p:spPr>
          <a:xfrm>
            <a:off x="11002645" y="-2165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477770" y="4500880"/>
            <a:ext cx="7249795" cy="1118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200000"/>
              </a:lnSpc>
            </a:pPr>
            <a:r>
              <a:rPr lang="zh-CN" altLang="en-US" sz="1600"/>
              <a:t>小组成员：肖林兰钰、邹紫涵、张涵、林圆、凡思瑶</a:t>
            </a:r>
            <a:endParaRPr lang="zh-CN" altLang="en-US" sz="1600"/>
          </a:p>
          <a:p>
            <a:pPr algn="ctr">
              <a:lnSpc>
                <a:spcPct val="200000"/>
              </a:lnSpc>
            </a:pPr>
            <a:r>
              <a:rPr lang="zh-CN" altLang="en-US" sz="1600"/>
              <a:t>汇报时间：</a:t>
            </a:r>
            <a:r>
              <a:rPr lang="en-US" altLang="zh-CN" sz="1600"/>
              <a:t>2026</a:t>
            </a:r>
            <a:r>
              <a:rPr lang="zh-CN" altLang="en-US" sz="1600"/>
              <a:t>年</a:t>
            </a:r>
            <a:r>
              <a:rPr lang="en-US" altLang="zh-CN" sz="1600"/>
              <a:t>7</a:t>
            </a:r>
            <a:r>
              <a:rPr lang="zh-CN" altLang="en-US" sz="1600"/>
              <a:t>月</a:t>
            </a:r>
            <a:r>
              <a:rPr lang="en-US" altLang="zh-CN" sz="1600"/>
              <a:t>17</a:t>
            </a:r>
            <a:r>
              <a:rPr lang="zh-CN" altLang="en-US" sz="1600"/>
              <a:t>日</a:t>
            </a:r>
            <a:endParaRPr lang="zh-CN" altLang="en-US" sz="160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65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</p:spPr>
        <p:txBody>
          <a:bodyPr>
            <a:noAutofit/>
          </a:bodyPr>
          <a:p>
            <a:r>
              <a:rPr lang="zh-CN" altLang="en-US" sz="2400" b="1">
                <a:solidFill>
                  <a:schemeClr val="tx1"/>
                </a:solidFill>
              </a:rPr>
              <a:t>一、项目概述</a:t>
            </a:r>
            <a:br>
              <a:rPr lang="zh-CN" altLang="en-US" sz="2400" b="1">
                <a:solidFill>
                  <a:schemeClr val="tx1"/>
                </a:solidFill>
              </a:rPr>
            </a:b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4" name="装饰  6"/>
          <p:cNvSpPr>
            <a:spLocks noGrp="1"/>
          </p:cNvSpPr>
          <p:nvPr>
            <p:ph type="body" idx="16392"/>
            <p:custDataLst>
              <p:tags r:id="rId3"/>
            </p:custDataLst>
          </p:nvPr>
        </p:nvSpPr>
        <p:spPr>
          <a:gradFill>
            <a:gsLst>
              <a:gs pos="0">
                <a:schemeClr val="bg1">
                  <a:lumMod val="95000"/>
                  <a:alpha val="67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</a:gradFill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Autofit/>
          </a:bodyPr>
          <a:p>
            <a:pPr algn="ctr"/>
            <a:r>
              <a:rPr lang="zh-CN" altLang="en-US">
                <a:sym typeface="+mn-ea"/>
              </a:rPr>
              <a:t>项目目标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Autofit/>
          </a:bodyPr>
          <a:p>
            <a:r>
              <a:rPr lang="zh-CN" altLang="en-US" sz="1800">
                <a:sym typeface="+mn-ea"/>
              </a:rPr>
              <a:t>依托 </a:t>
            </a:r>
            <a:r>
              <a:rPr lang="en-US" altLang="zh-CN" sz="1800">
                <a:sym typeface="+mn-ea"/>
              </a:rPr>
              <a:t>HTML/CSS/JS </a:t>
            </a:r>
            <a:r>
              <a:rPr lang="zh-CN" altLang="en-US" sz="1800">
                <a:sym typeface="+mn-ea"/>
              </a:rPr>
              <a:t>搭建国风文创展示单页，实践 </a:t>
            </a:r>
            <a:r>
              <a:rPr lang="en-US" altLang="zh-CN" sz="1800">
                <a:sym typeface="+mn-ea"/>
              </a:rPr>
              <a:t>Cursor AI </a:t>
            </a:r>
            <a:r>
              <a:rPr lang="zh-CN" altLang="en-US" sz="1800">
                <a:sym typeface="+mn-ea"/>
              </a:rPr>
              <a:t>辅助前端开发，完成完整小型 </a:t>
            </a:r>
            <a:r>
              <a:rPr lang="en-US" altLang="zh-CN" sz="1800">
                <a:sym typeface="+mn-ea"/>
              </a:rPr>
              <a:t>Web </a:t>
            </a:r>
            <a:r>
              <a:rPr lang="zh-CN" altLang="en-US" sz="1800">
                <a:sym typeface="+mn-ea"/>
              </a:rPr>
              <a:t>项目目开发流程。</a:t>
            </a:r>
            <a:endParaRPr lang="zh-CN" altLang="en-US" sz="1800">
              <a:sym typeface="+mn-ea"/>
            </a:endParaRPr>
          </a:p>
        </p:txBody>
      </p:sp>
      <p:sp>
        <p:nvSpPr>
          <p:cNvPr id="7" name="装饰  9"/>
          <p:cNvSpPr>
            <a:spLocks noGrp="1"/>
          </p:cNvSpPr>
          <p:nvPr>
            <p:ph type="body" idx="16393"/>
            <p:custDataLst>
              <p:tags r:id="rId6"/>
            </p:custDataLst>
          </p:nvPr>
        </p:nvSpPr>
        <p:spPr>
          <a:gradFill>
            <a:gsLst>
              <a:gs pos="0">
                <a:schemeClr val="bg1">
                  <a:lumMod val="95000"/>
                  <a:alpha val="67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</a:gradFill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/>
            <p:custDataLst>
              <p:tags r:id="rId7"/>
            </p:custDataLst>
          </p:nvPr>
        </p:nvSpPr>
        <p:spPr/>
        <p:txBody>
          <a:bodyPr>
            <a:noAutofit/>
          </a:bodyPr>
          <a:p>
            <a:pPr algn="ctr"/>
            <a:r>
              <a:rPr lang="zh-CN" altLang="en-US">
                <a:sym typeface="+mn-ea"/>
              </a:rPr>
              <a:t>开发要求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Autofit/>
          </a:bodyPr>
          <a:p>
            <a:r>
              <a:rPr lang="zh-CN" altLang="en-US" sz="1800">
                <a:sym typeface="+mn-ea"/>
              </a:rPr>
              <a:t>单文件网页、国风简约视觉、分类筛选 + 平滑滚动交互、多端响应式；全程 </a:t>
            </a:r>
            <a:r>
              <a:rPr lang="en-US" altLang="zh-CN" sz="1800">
                <a:sym typeface="+mn-ea"/>
              </a:rPr>
              <a:t>AI </a:t>
            </a:r>
            <a:r>
              <a:rPr lang="zh-CN" altLang="en-US" sz="1800">
                <a:sym typeface="+mn-ea"/>
              </a:rPr>
              <a:t>辅助编码。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/>
          </a:p>
        </p:txBody>
      </p:sp>
      <p:sp>
        <p:nvSpPr>
          <p:cNvPr id="13" name="装饰  2"/>
          <p:cNvSpPr>
            <a:spLocks noGrp="1"/>
          </p:cNvSpPr>
          <p:nvPr>
            <p:ph type="body" idx="16394"/>
            <p:custDataLst>
              <p:tags r:id="rId9"/>
            </p:custDataLst>
          </p:nvPr>
        </p:nvSpPr>
        <p:spPr>
          <a:gradFill>
            <a:gsLst>
              <a:gs pos="0">
                <a:schemeClr val="bg1">
                  <a:lumMod val="95000"/>
                  <a:alpha val="67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/>
            <p:custDataLst>
              <p:tags r:id="rId10"/>
            </p:custDataLst>
          </p:nvPr>
        </p:nvSpPr>
        <p:spPr/>
        <p:txBody>
          <a:bodyPr>
            <a:noAutofit/>
          </a:bodyPr>
          <a:p>
            <a:pPr algn="ctr"/>
            <a:r>
              <a:rPr lang="zh-CN" altLang="en-US">
                <a:sym typeface="+mn-ea"/>
              </a:rPr>
              <a:t>分工与周期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>
          <a:xfrm>
            <a:off x="8432800" y="2641600"/>
            <a:ext cx="2844800" cy="3048000"/>
          </a:xfrm>
        </p:spPr>
        <p:txBody>
          <a:bodyPr>
            <a:noAutofit/>
          </a:bodyPr>
          <a:p>
            <a:r>
              <a:rPr lang="zh-CN" altLang="en-US" sz="1800">
                <a:sym typeface="+mn-ea"/>
              </a:rPr>
              <a:t>周期 3 天，分需求设计、代码开发、测试答辩三阶段，组员各司其职完成编码、文档、</a:t>
            </a:r>
            <a:r>
              <a:rPr lang="en-US" altLang="zh-CN" sz="1800">
                <a:sym typeface="+mn-ea"/>
              </a:rPr>
              <a:t>PPT、</a:t>
            </a:r>
            <a:r>
              <a:rPr lang="zh-CN" altLang="en-US" sz="1800">
                <a:sym typeface="+mn-ea"/>
              </a:rPr>
              <a:t>答辩工作。</a:t>
            </a:r>
            <a:endParaRPr lang="zh-CN" altLang="en-US" sz="1800">
              <a:sym typeface="+mn-ea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62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55670" y="362655"/>
            <a:ext cx="10969200" cy="705600"/>
          </a:xfrm>
        </p:spPr>
        <p:txBody>
          <a:bodyPr/>
          <a:p>
            <a:r>
              <a:rPr lang="zh-CN" altLang="en-US" sz="2400" b="1">
                <a:solidFill>
                  <a:schemeClr val="tx1"/>
                </a:solidFill>
              </a:rPr>
              <a:t>二</a:t>
            </a:r>
            <a:r>
              <a:rPr lang="en-US" altLang="zh-CN" sz="2400" b="1">
                <a:solidFill>
                  <a:schemeClr val="tx1"/>
                </a:solidFill>
              </a:rPr>
              <a:t>、</a:t>
            </a:r>
            <a:r>
              <a:rPr lang="zh-CN" altLang="en-US" sz="2400" b="1">
                <a:solidFill>
                  <a:schemeClr val="tx1"/>
                </a:solidFill>
              </a:rPr>
              <a:t>需求分析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pic>
        <p:nvPicPr>
          <p:cNvPr id="8" name="内容占位符 7" descr="古韵流转，诗心绘卷_3_千江月的AI绘画_来自小红书网页版"/>
          <p:cNvPicPr>
            <a:picLocks noChangeAspect="1"/>
          </p:cNvPicPr>
          <p:nvPr>
            <p:ph idx="1"/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150225" y="1492250"/>
            <a:ext cx="4041775" cy="536575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980055" y="836930"/>
            <a:ext cx="5170170" cy="1299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>
              <a:lnSpc>
                <a:spcPct val="150000"/>
              </a:lnSpc>
            </a:pPr>
            <a:r>
              <a:rPr lang="zh-CN" altLang="en-US" b="1"/>
              <a:t>用户需求：</a:t>
            </a:r>
            <a:endParaRPr lang="zh-CN" altLang="en-US" b="1"/>
          </a:p>
          <a:p>
            <a:pPr algn="ctr">
              <a:lnSpc>
                <a:spcPct val="150000"/>
              </a:lnSpc>
            </a:pPr>
            <a:r>
              <a:rPr lang="zh-CN" altLang="en-US"/>
              <a:t>面向国风文创爱好者，打造清雅东方风格页面，</a:t>
            </a:r>
            <a:endParaRPr lang="zh-CN" altLang="en-US"/>
          </a:p>
          <a:p>
            <a:pPr algn="ctr">
              <a:lnSpc>
                <a:spcPct val="150000"/>
              </a:lnSpc>
            </a:pPr>
            <a:r>
              <a:rPr lang="zh-CN" altLang="en-US"/>
              <a:t>支持产品分类浏览、流畅页面跳转。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569335" y="2703830"/>
            <a:ext cx="399288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/>
              <a:t>功能需求：</a:t>
            </a:r>
            <a:endParaRPr lang="zh-CN" altLang="en-US" b="1"/>
          </a:p>
          <a:p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品牌头部导航、首页主视觉宣传区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产品分类筛选、产品卡片网格展示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品牌故事展示、全设备自适应布局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4.</a:t>
            </a:r>
            <a:r>
              <a:rPr lang="zh-CN" altLang="en-US"/>
              <a:t>按钮悬停、点击交互反馈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582035" y="3199765"/>
            <a:ext cx="3789045" cy="389890"/>
          </a:xfrm>
          <a:prstGeom prst="rect">
            <a:avLst/>
          </a:prstGeom>
          <a:ln w="12700" cap="flat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582035" y="3748405"/>
            <a:ext cx="3788410" cy="433070"/>
          </a:xfrm>
          <a:prstGeom prst="rect">
            <a:avLst/>
          </a:prstGeom>
          <a:ln w="12700" cap="flat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582035" y="4333240"/>
            <a:ext cx="3787140" cy="346710"/>
          </a:xfrm>
          <a:prstGeom prst="rect">
            <a:avLst/>
          </a:prstGeom>
          <a:ln w="12700" cap="flat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582670" y="4895850"/>
            <a:ext cx="3785235" cy="332105"/>
          </a:xfrm>
          <a:prstGeom prst="rect">
            <a:avLst/>
          </a:prstGeom>
          <a:ln w="12700" cap="flat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62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13" name="图片 12" descr="小众国风背景图_8_嘎豆_来自小红书网页版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5670" y="1010285"/>
            <a:ext cx="2463800" cy="5334000"/>
          </a:xfrm>
          <a:prstGeom prst="rect">
            <a:avLst/>
          </a:prstGeom>
        </p:spPr>
      </p:pic>
      <p:pic>
        <p:nvPicPr>
          <p:cNvPr id="12" name="内容占位符 11" descr="小众国风背景图_4_嘎豆_来自小红书网页版"/>
          <p:cNvPicPr>
            <a:picLocks noChangeAspect="1"/>
          </p:cNvPicPr>
          <p:nvPr>
            <p:ph idx="1"/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26490" y="1012825"/>
            <a:ext cx="2447290" cy="53086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48050" y="304870"/>
            <a:ext cx="10969200" cy="705600"/>
          </a:xfrm>
        </p:spPr>
        <p:txBody>
          <a:bodyPr/>
          <a:p>
            <a:r>
              <a:rPr lang="zh-CN" altLang="en-US" sz="2400" b="1">
                <a:solidFill>
                  <a:schemeClr val="tx1"/>
                </a:solidFill>
                <a:sym typeface="+mn-ea"/>
              </a:rPr>
              <a:t>三、</a:t>
            </a:r>
            <a:r>
              <a:rPr lang="zh-CN" altLang="en-US" sz="2400" b="1"/>
              <a:t>整体方案设计</a:t>
            </a:r>
            <a:endParaRPr lang="zh-CN" altLang="en-US" sz="2400" b="1"/>
          </a:p>
        </p:txBody>
      </p:sp>
      <p:sp>
        <p:nvSpPr>
          <p:cNvPr id="5" name="文本框 4"/>
          <p:cNvSpPr txBox="1"/>
          <p:nvPr/>
        </p:nvSpPr>
        <p:spPr>
          <a:xfrm>
            <a:off x="1126490" y="3093720"/>
            <a:ext cx="2447925" cy="1198880"/>
          </a:xfrm>
          <a:prstGeom prst="rect">
            <a:avLst/>
          </a:prstGeom>
          <a:solidFill>
            <a:schemeClr val="accent3">
              <a:lumMod val="20000"/>
              <a:lumOff val="80000"/>
              <a:alpha val="44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zh-CN" altLang="en-US"/>
              <a:t>设计理念：</a:t>
            </a:r>
            <a:endParaRPr lang="zh-CN" altLang="en-US"/>
          </a:p>
          <a:p>
            <a:r>
              <a:rPr lang="zh-CN" altLang="en-US"/>
              <a:t>极简东方美学，留白 + 宣纸肌理、低饱和茶色国风配色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648200" y="1073785"/>
            <a:ext cx="2707005" cy="1432560"/>
          </a:xfrm>
          <a:prstGeom prst="rect">
            <a:avLst/>
          </a:prstGeom>
          <a:solidFill>
            <a:schemeClr val="accent1">
              <a:lumMod val="20000"/>
              <a:lumOff val="80000"/>
              <a:alpha val="25000"/>
            </a:schemeClr>
          </a:solidFill>
        </p:spPr>
        <p:txBody>
          <a:bodyPr wrap="square" rtlCol="0">
            <a:noAutofit/>
          </a:bodyPr>
          <a:p>
            <a:r>
              <a:rPr lang="zh-CN" altLang="en-US"/>
              <a:t>技术栈：</a:t>
            </a:r>
            <a:endParaRPr lang="zh-CN" altLang="en-US"/>
          </a:p>
          <a:p>
            <a:r>
              <a:rPr lang="en-US" altLang="zh-CN"/>
              <a:t>HTML5 + </a:t>
            </a:r>
            <a:endParaRPr lang="en-US" altLang="zh-CN"/>
          </a:p>
          <a:p>
            <a:r>
              <a:rPr lang="en-US" altLang="zh-CN"/>
              <a:t>CSS3（Flex/Grid）+</a:t>
            </a:r>
            <a:endParaRPr lang="en-US" altLang="zh-CN"/>
          </a:p>
          <a:p>
            <a:r>
              <a:rPr lang="en-US" altLang="zh-CN"/>
              <a:t> </a:t>
            </a:r>
            <a:r>
              <a:rPr lang="zh-CN" altLang="en-US"/>
              <a:t>原生 </a:t>
            </a:r>
            <a:r>
              <a:rPr lang="en-US" altLang="zh-CN"/>
              <a:t>JS + </a:t>
            </a:r>
            <a:endParaRPr lang="en-US" altLang="zh-CN"/>
          </a:p>
          <a:p>
            <a:r>
              <a:rPr lang="en-US" altLang="zh-CN"/>
              <a:t>Cursor AI </a:t>
            </a:r>
            <a:r>
              <a:rPr lang="zh-CN" altLang="en-US"/>
              <a:t>辅助开发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535035" y="3093085"/>
            <a:ext cx="2464435" cy="1767840"/>
          </a:xfrm>
          <a:prstGeom prst="rect">
            <a:avLst/>
          </a:prstGeom>
          <a:solidFill>
            <a:srgbClr val="EADAC6">
              <a:alpha val="63000"/>
            </a:srgbClr>
          </a:solidFill>
        </p:spPr>
        <p:txBody>
          <a:bodyPr wrap="square" rtlCol="0">
            <a:noAutofit/>
          </a:bodyPr>
          <a:p>
            <a:pPr algn="ctr"/>
            <a:r>
              <a:rPr lang="zh-CN" altLang="en-US"/>
              <a:t>五大功能模块：</a:t>
            </a:r>
            <a:endParaRPr lang="zh-CN" altLang="en-US"/>
          </a:p>
          <a:p>
            <a:pPr algn="ctr"/>
            <a:r>
              <a:rPr lang="zh-CN" altLang="en-US"/>
              <a:t>头部导航</a:t>
            </a:r>
            <a:endParaRPr lang="zh-CN" altLang="en-US"/>
          </a:p>
          <a:p>
            <a:pPr algn="ctr"/>
            <a:r>
              <a:rPr lang="zh-CN" altLang="en-US"/>
              <a:t>主视觉</a:t>
            </a:r>
            <a:endParaRPr lang="zh-CN" altLang="en-US"/>
          </a:p>
          <a:p>
            <a:pPr algn="ctr"/>
            <a:r>
              <a:rPr lang="zh-CN" altLang="en-US"/>
              <a:t>产品展示</a:t>
            </a:r>
            <a:endParaRPr lang="zh-CN" altLang="en-US"/>
          </a:p>
          <a:p>
            <a:pPr algn="ctr"/>
            <a:r>
              <a:rPr lang="zh-CN" altLang="en-US"/>
              <a:t>品牌故事</a:t>
            </a:r>
            <a:endParaRPr lang="zh-CN" altLang="en-US"/>
          </a:p>
          <a:p>
            <a:pPr algn="ctr"/>
            <a:r>
              <a:rPr lang="zh-CN" altLang="en-US"/>
              <a:t>交互控制模块</a:t>
            </a:r>
            <a:endParaRPr lang="zh-CN" altLang="en-US"/>
          </a:p>
        </p:txBody>
      </p:sp>
      <p:pic>
        <p:nvPicPr>
          <p:cNvPr id="10" name="图片 9" descr="中式美学·穿越千年，邀你一起重拾国风文化_3_浅浅兮_来自小红书网页版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4730" y="2969260"/>
            <a:ext cx="2399665" cy="320103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62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13455" y="327095"/>
            <a:ext cx="10969200" cy="705600"/>
          </a:xfrm>
        </p:spPr>
        <p:txBody>
          <a:bodyPr/>
          <a:p>
            <a:r>
              <a:rPr lang="zh-CN" altLang="en-US" sz="2400" b="1">
                <a:solidFill>
                  <a:schemeClr val="tx1"/>
                </a:solidFill>
                <a:sym typeface="+mn-ea"/>
              </a:rPr>
              <a:t>四、详细设计实现</a:t>
            </a:r>
            <a:endParaRPr lang="zh-CN" altLang="en-US" sz="24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276860" y="1216660"/>
            <a:ext cx="11300460" cy="5033010"/>
          </a:xfrm>
          <a:noFill/>
        </p:spPr>
        <p:txBody>
          <a:bodyPr/>
          <a:p>
            <a:r>
              <a:rPr lang="zh-CN" altLang="en-US" b="1">
                <a:solidFill>
                  <a:schemeClr val="tx1"/>
                </a:solidFill>
              </a:rPr>
              <a:t>页面布局：</a:t>
            </a:r>
            <a:r>
              <a:rPr lang="zh-CN" altLang="en-US">
                <a:solidFill>
                  <a:schemeClr val="tx1"/>
                </a:solidFill>
              </a:rPr>
              <a:t>头部→主视觉 </a:t>
            </a:r>
            <a:r>
              <a:rPr lang="en-US" altLang="zh-CN">
                <a:solidFill>
                  <a:schemeClr val="tx1"/>
                </a:solidFill>
              </a:rPr>
              <a:t>Banner→</a:t>
            </a:r>
            <a:r>
              <a:rPr lang="zh-CN" altLang="en-US">
                <a:solidFill>
                  <a:schemeClr val="tx1"/>
                </a:solidFill>
              </a:rPr>
              <a:t>产品区→品牌故事→页脚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视觉配色：</a:t>
            </a:r>
            <a:r>
              <a:rPr lang="zh-CN" altLang="en-US">
                <a:solidFill>
                  <a:schemeClr val="tx1"/>
                </a:solidFill>
              </a:rPr>
              <a:t>宣纸米白底、茶色主色调、淡杏装饰色，半透卡片分层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核心交互</a:t>
            </a:r>
            <a:endParaRPr lang="zh-CN" altLang="en-US" b="1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分类筛选：</a:t>
            </a:r>
            <a:r>
              <a:rPr lang="zh-CN" altLang="en-US">
                <a:solidFill>
                  <a:schemeClr val="tx1"/>
                </a:solidFill>
              </a:rPr>
              <a:t>点击切换渲染对应产品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平滑滚动：</a:t>
            </a:r>
            <a:r>
              <a:rPr lang="zh-CN" altLang="en-US">
                <a:solidFill>
                  <a:schemeClr val="tx1"/>
                </a:solidFill>
              </a:rPr>
              <a:t>导航锚点跳转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按钮 </a:t>
            </a:r>
            <a:r>
              <a:rPr lang="en-US" altLang="zh-CN" b="1">
                <a:solidFill>
                  <a:schemeClr val="tx1"/>
                </a:solidFill>
              </a:rPr>
              <a:t>hover </a:t>
            </a:r>
            <a:r>
              <a:rPr lang="zh-CN" altLang="en-US" b="1">
                <a:solidFill>
                  <a:schemeClr val="tx1"/>
                </a:solidFill>
              </a:rPr>
              <a:t>动态反馈</a:t>
            </a:r>
            <a:endParaRPr lang="zh-CN" altLang="en-US" b="1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数据结构：</a:t>
            </a:r>
            <a:r>
              <a:rPr lang="zh-CN" altLang="en-US">
                <a:solidFill>
                  <a:schemeClr val="tx1"/>
                </a:solidFill>
              </a:rPr>
              <a:t>分类数组、文创产品数组存储页面展示内容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62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13455" y="327095"/>
            <a:ext cx="10969200" cy="705600"/>
          </a:xfrm>
        </p:spPr>
        <p:txBody>
          <a:bodyPr/>
          <a:p>
            <a:r>
              <a:rPr lang="zh-CN" altLang="en-US" sz="2400" b="1">
                <a:solidFill>
                  <a:schemeClr val="tx1"/>
                </a:solidFill>
                <a:sym typeface="+mn-ea"/>
              </a:rPr>
              <a:t>四、详细设计实现</a:t>
            </a:r>
            <a:endParaRPr lang="zh-CN" altLang="en-US" sz="24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276860" y="1216660"/>
            <a:ext cx="11300460" cy="5033010"/>
          </a:xfrm>
          <a:noFill/>
        </p:spPr>
        <p:txBody>
          <a:bodyPr/>
          <a:p>
            <a:r>
              <a:rPr lang="zh-CN" altLang="en-US" b="1">
                <a:solidFill>
                  <a:schemeClr val="tx1"/>
                </a:solidFill>
              </a:rPr>
              <a:t>页面布局：</a:t>
            </a:r>
            <a:r>
              <a:rPr lang="zh-CN" altLang="en-US">
                <a:solidFill>
                  <a:schemeClr val="tx1"/>
                </a:solidFill>
              </a:rPr>
              <a:t>头部→主视觉 </a:t>
            </a:r>
            <a:r>
              <a:rPr lang="en-US" altLang="zh-CN">
                <a:solidFill>
                  <a:schemeClr val="tx1"/>
                </a:solidFill>
              </a:rPr>
              <a:t>Banner→</a:t>
            </a:r>
            <a:r>
              <a:rPr lang="zh-CN" altLang="en-US">
                <a:solidFill>
                  <a:schemeClr val="tx1"/>
                </a:solidFill>
              </a:rPr>
              <a:t>产品区→品牌故事→页脚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视觉配色：</a:t>
            </a:r>
            <a:r>
              <a:rPr lang="zh-CN" altLang="en-US">
                <a:solidFill>
                  <a:schemeClr val="tx1"/>
                </a:solidFill>
              </a:rPr>
              <a:t>宣纸米白底、茶色主色调、淡杏装饰色，半透卡片分层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核心交互</a:t>
            </a:r>
            <a:endParaRPr lang="zh-CN" altLang="en-US" b="1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分类筛选：</a:t>
            </a:r>
            <a:r>
              <a:rPr lang="zh-CN" altLang="en-US">
                <a:solidFill>
                  <a:schemeClr val="tx1"/>
                </a:solidFill>
              </a:rPr>
              <a:t>点击切换渲染对应产品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平滑滚动：</a:t>
            </a:r>
            <a:r>
              <a:rPr lang="zh-CN" altLang="en-US">
                <a:solidFill>
                  <a:schemeClr val="tx1"/>
                </a:solidFill>
              </a:rPr>
              <a:t>导航锚点跳转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按钮 </a:t>
            </a:r>
            <a:r>
              <a:rPr lang="en-US" altLang="zh-CN" b="1">
                <a:solidFill>
                  <a:schemeClr val="tx1"/>
                </a:solidFill>
              </a:rPr>
              <a:t>hover </a:t>
            </a:r>
            <a:r>
              <a:rPr lang="zh-CN" altLang="en-US" b="1">
                <a:solidFill>
                  <a:schemeClr val="tx1"/>
                </a:solidFill>
              </a:rPr>
              <a:t>动态反馈</a:t>
            </a:r>
            <a:endParaRPr lang="zh-CN" altLang="en-US" b="1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数据结构：</a:t>
            </a:r>
            <a:r>
              <a:rPr lang="zh-CN" altLang="en-US">
                <a:solidFill>
                  <a:schemeClr val="tx1"/>
                </a:solidFill>
              </a:rPr>
              <a:t>分类数组、文创产品数组存储页面展示内容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62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13455" y="327095"/>
            <a:ext cx="10969200" cy="705600"/>
          </a:xfrm>
        </p:spPr>
        <p:txBody>
          <a:bodyPr/>
          <a:p>
            <a:r>
              <a:rPr lang="zh-CN" altLang="en-US" sz="2400" b="1">
                <a:solidFill>
                  <a:schemeClr val="tx1"/>
                </a:solidFill>
                <a:sym typeface="+mn-ea"/>
              </a:rPr>
              <a:t>四、详细设计实现</a:t>
            </a:r>
            <a:endParaRPr lang="zh-CN" altLang="en-US" sz="24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276860" y="1216660"/>
            <a:ext cx="11300460" cy="5033010"/>
          </a:xfrm>
          <a:noFill/>
        </p:spPr>
        <p:txBody>
          <a:bodyPr/>
          <a:p>
            <a:r>
              <a:rPr lang="zh-CN" altLang="en-US" sz="2400" b="1">
                <a:solidFill>
                  <a:schemeClr val="tx1"/>
                </a:solidFill>
              </a:rPr>
              <a:t>页面布局：</a:t>
            </a:r>
            <a:endParaRPr lang="zh-CN" altLang="en-US" sz="2400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>
                <a:solidFill>
                  <a:schemeClr val="tx1"/>
                </a:solidFill>
              </a:rPr>
              <a:t>  </a:t>
            </a:r>
            <a:r>
              <a:rPr lang="zh-CN" altLang="en-US" sz="2400">
                <a:solidFill>
                  <a:schemeClr val="tx1"/>
                </a:solidFill>
              </a:rPr>
              <a:t>头部→主视觉 </a:t>
            </a:r>
            <a:r>
              <a:rPr lang="en-US" altLang="zh-CN" sz="2400">
                <a:solidFill>
                  <a:schemeClr val="tx1"/>
                </a:solidFill>
              </a:rPr>
              <a:t>Banner→</a:t>
            </a:r>
            <a:r>
              <a:rPr lang="zh-CN" altLang="en-US" sz="2400">
                <a:solidFill>
                  <a:schemeClr val="tx1"/>
                </a:solidFill>
              </a:rPr>
              <a:t>产品区→品牌故事→页脚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视觉配色</a:t>
            </a:r>
            <a:r>
              <a:rPr lang="zh-CN" altLang="en-US">
                <a:solidFill>
                  <a:schemeClr val="tx1"/>
                </a:solidFill>
              </a:rPr>
              <a:t>：宣纸米白底、茶色主色调、淡杏装饰色，半透卡片分层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核心交互</a:t>
            </a:r>
            <a:endParaRPr lang="zh-CN" altLang="en-US" b="1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分类筛选</a:t>
            </a:r>
            <a:r>
              <a:rPr lang="zh-CN" altLang="en-US">
                <a:solidFill>
                  <a:schemeClr val="tx1"/>
                </a:solidFill>
              </a:rPr>
              <a:t>：点击切换渲染对应产品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平滑滚动</a:t>
            </a:r>
            <a:r>
              <a:rPr lang="zh-CN" altLang="en-US">
                <a:solidFill>
                  <a:schemeClr val="tx1"/>
                </a:solidFill>
              </a:rPr>
              <a:t>：导航锚点跳转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按钮 </a:t>
            </a:r>
            <a:r>
              <a:rPr lang="en-US" altLang="zh-CN" b="1">
                <a:solidFill>
                  <a:schemeClr val="tx1"/>
                </a:solidFill>
              </a:rPr>
              <a:t>hover </a:t>
            </a:r>
            <a:r>
              <a:rPr lang="zh-CN" altLang="en-US" b="1">
                <a:solidFill>
                  <a:schemeClr val="tx1"/>
                </a:solidFill>
              </a:rPr>
              <a:t>动态反馈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数据结构</a:t>
            </a:r>
            <a:r>
              <a:rPr lang="zh-CN" altLang="en-US">
                <a:solidFill>
                  <a:schemeClr val="tx1"/>
                </a:solidFill>
              </a:rPr>
              <a:t>：分类数组、文创产品数组存储页面展示内容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" name="图片 3"/>
          <p:cNvPicPr/>
          <p:nvPr/>
        </p:nvPicPr>
        <p:blipFill>
          <a:blip r:embed="rId4"/>
          <a:stretch>
            <a:fillRect/>
          </a:stretch>
        </p:blipFill>
        <p:spPr>
          <a:xfrm>
            <a:off x="8599805" y="-635"/>
            <a:ext cx="3468370" cy="6858635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321945" y="1270635"/>
            <a:ext cx="7753985" cy="1136650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62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13455" y="327095"/>
            <a:ext cx="10969200" cy="705600"/>
          </a:xfrm>
        </p:spPr>
        <p:txBody>
          <a:bodyPr/>
          <a:p>
            <a:r>
              <a:rPr lang="zh-CN" altLang="en-US" sz="2400" b="1">
                <a:solidFill>
                  <a:schemeClr val="tx1"/>
                </a:solidFill>
                <a:sym typeface="+mn-ea"/>
              </a:rPr>
              <a:t>四、详细设计实现</a:t>
            </a:r>
            <a:endParaRPr lang="zh-CN" altLang="en-US" sz="24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276860" y="1216660"/>
            <a:ext cx="11300460" cy="5033010"/>
          </a:xfrm>
          <a:noFill/>
          <a:ln>
            <a:gradFill>
              <a:gsLst>
                <a:gs pos="59000">
                  <a:srgbClr val="D2DCF2"/>
                </a:gs>
                <a:gs pos="90000">
                  <a:srgbClr val="BBCBEC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/>
          <a:p>
            <a:r>
              <a:rPr lang="zh-CN" altLang="en-US" b="1">
                <a:solidFill>
                  <a:schemeClr val="tx1"/>
                </a:solidFill>
              </a:rPr>
              <a:t>页面布局：</a:t>
            </a:r>
            <a:r>
              <a:rPr lang="zh-CN" altLang="en-US">
                <a:solidFill>
                  <a:schemeClr val="tx1"/>
                </a:solidFill>
              </a:rPr>
              <a:t>头部→主视觉 </a:t>
            </a:r>
            <a:r>
              <a:rPr lang="en-US" altLang="zh-CN">
                <a:solidFill>
                  <a:schemeClr val="tx1"/>
                </a:solidFill>
              </a:rPr>
              <a:t>Banner→</a:t>
            </a:r>
            <a:r>
              <a:rPr lang="zh-CN" altLang="en-US">
                <a:solidFill>
                  <a:schemeClr val="tx1"/>
                </a:solidFill>
              </a:rPr>
              <a:t>产品区→品牌故事→页脚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 sz="2400" b="1">
                <a:solidFill>
                  <a:schemeClr val="tx1"/>
                </a:solidFill>
              </a:rPr>
              <a:t>视觉配色：</a:t>
            </a:r>
            <a:endParaRPr lang="zh-CN" altLang="en-US" sz="2400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>
                <a:solidFill>
                  <a:schemeClr val="tx1"/>
                </a:solidFill>
              </a:rPr>
              <a:t>  </a:t>
            </a:r>
            <a:r>
              <a:rPr lang="zh-CN" altLang="en-US" sz="2400">
                <a:solidFill>
                  <a:schemeClr val="tx1"/>
                </a:solidFill>
              </a:rPr>
              <a:t>宣纸米白底、茶色主色调、淡杏装饰色，半透卡片分层</a:t>
            </a:r>
            <a:endParaRPr lang="zh-CN" altLang="en-US" b="1" i="1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核心交互</a:t>
            </a:r>
            <a:endParaRPr lang="zh-CN" altLang="en-US" b="1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分类筛选：</a:t>
            </a:r>
            <a:r>
              <a:rPr lang="zh-CN" altLang="en-US">
                <a:solidFill>
                  <a:schemeClr val="tx1"/>
                </a:solidFill>
              </a:rPr>
              <a:t>点击切换渲染对应产品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平滑滚动：</a:t>
            </a:r>
            <a:r>
              <a:rPr lang="zh-CN" altLang="en-US">
                <a:solidFill>
                  <a:schemeClr val="tx1"/>
                </a:solidFill>
              </a:rPr>
              <a:t>导航锚点跳转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按钮 </a:t>
            </a:r>
            <a:r>
              <a:rPr lang="en-US" altLang="zh-CN" b="1">
                <a:solidFill>
                  <a:schemeClr val="tx1"/>
                </a:solidFill>
              </a:rPr>
              <a:t>hover </a:t>
            </a:r>
            <a:r>
              <a:rPr lang="zh-CN" altLang="en-US" b="1">
                <a:solidFill>
                  <a:schemeClr val="tx1"/>
                </a:solidFill>
              </a:rPr>
              <a:t>动态反馈</a:t>
            </a:r>
            <a:endParaRPr lang="zh-CN" altLang="en-US" b="1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数据结构：</a:t>
            </a:r>
            <a:r>
              <a:rPr lang="zh-CN" altLang="en-US">
                <a:solidFill>
                  <a:schemeClr val="tx1"/>
                </a:solidFill>
              </a:rPr>
              <a:t>分类数组、文创产品数组存储页面展示内容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lum contrast="6000"/>
          </a:blip>
          <a:srcRect/>
          <a:stretch>
            <a:fillRect/>
          </a:stretch>
        </p:blipFill>
        <p:spPr>
          <a:xfrm>
            <a:off x="8780780" y="1428750"/>
            <a:ext cx="2754630" cy="25374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338" h="3996">
                <a:moveTo>
                  <a:pt x="768" y="0"/>
                </a:moveTo>
                <a:lnTo>
                  <a:pt x="3569" y="0"/>
                </a:lnTo>
                <a:lnTo>
                  <a:pt x="3600" y="22"/>
                </a:lnTo>
                <a:cubicBezTo>
                  <a:pt x="3891" y="227"/>
                  <a:pt x="4136" y="492"/>
                  <a:pt x="4314" y="800"/>
                </a:cubicBezTo>
                <a:lnTo>
                  <a:pt x="4338" y="842"/>
                </a:lnTo>
                <a:lnTo>
                  <a:pt x="4338" y="3196"/>
                </a:lnTo>
                <a:lnTo>
                  <a:pt x="4314" y="3238"/>
                </a:lnTo>
                <a:cubicBezTo>
                  <a:pt x="4146" y="3529"/>
                  <a:pt x="3918" y="3782"/>
                  <a:pt x="3648" y="3981"/>
                </a:cubicBezTo>
                <a:lnTo>
                  <a:pt x="3628" y="3996"/>
                </a:lnTo>
                <a:lnTo>
                  <a:pt x="709" y="3996"/>
                </a:lnTo>
                <a:lnTo>
                  <a:pt x="689" y="3981"/>
                </a:lnTo>
                <a:cubicBezTo>
                  <a:pt x="419" y="3782"/>
                  <a:pt x="191" y="3529"/>
                  <a:pt x="23" y="3238"/>
                </a:cubicBezTo>
                <a:lnTo>
                  <a:pt x="0" y="3198"/>
                </a:lnTo>
                <a:lnTo>
                  <a:pt x="0" y="840"/>
                </a:lnTo>
                <a:lnTo>
                  <a:pt x="23" y="800"/>
                </a:lnTo>
                <a:cubicBezTo>
                  <a:pt x="201" y="492"/>
                  <a:pt x="446" y="227"/>
                  <a:pt x="737" y="22"/>
                </a:cubicBezTo>
                <a:lnTo>
                  <a:pt x="768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2000"/>
              </a:prstClr>
            </a:outerShdw>
            <a:softEdge rad="101600"/>
          </a:effectLst>
        </p:spPr>
      </p:pic>
      <p:sp>
        <p:nvSpPr>
          <p:cNvPr id="7" name="圆角矩形 6"/>
          <p:cNvSpPr/>
          <p:nvPr/>
        </p:nvSpPr>
        <p:spPr>
          <a:xfrm>
            <a:off x="412750" y="1685290"/>
            <a:ext cx="8139430" cy="1305560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62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13455" y="327095"/>
            <a:ext cx="10969200" cy="705600"/>
          </a:xfrm>
        </p:spPr>
        <p:txBody>
          <a:bodyPr/>
          <a:p>
            <a:r>
              <a:rPr lang="zh-CN" altLang="en-US" sz="2400" b="1">
                <a:solidFill>
                  <a:schemeClr val="tx1"/>
                </a:solidFill>
                <a:sym typeface="+mn-ea"/>
              </a:rPr>
              <a:t>四、详细设计实现</a:t>
            </a:r>
            <a:endParaRPr lang="zh-CN" altLang="en-US" sz="24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276860" y="1216660"/>
            <a:ext cx="11300460" cy="5033010"/>
          </a:xfrm>
          <a:noFill/>
        </p:spPr>
        <p:txBody>
          <a:bodyPr/>
          <a:p>
            <a:r>
              <a:rPr lang="zh-CN" altLang="en-US" b="1">
                <a:solidFill>
                  <a:schemeClr val="tx1"/>
                </a:solidFill>
              </a:rPr>
              <a:t>页面布局：</a:t>
            </a:r>
            <a:r>
              <a:rPr lang="zh-CN" altLang="en-US">
                <a:solidFill>
                  <a:schemeClr val="tx1"/>
                </a:solidFill>
              </a:rPr>
              <a:t>头部→主视觉 </a:t>
            </a:r>
            <a:r>
              <a:rPr lang="en-US" altLang="zh-CN">
                <a:solidFill>
                  <a:schemeClr val="tx1"/>
                </a:solidFill>
              </a:rPr>
              <a:t>Banner→</a:t>
            </a:r>
            <a:r>
              <a:rPr lang="zh-CN" altLang="en-US">
                <a:solidFill>
                  <a:schemeClr val="tx1"/>
                </a:solidFill>
              </a:rPr>
              <a:t>产品区→品牌故事→页脚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视觉配色：</a:t>
            </a:r>
            <a:r>
              <a:rPr lang="zh-CN" altLang="en-US">
                <a:solidFill>
                  <a:schemeClr val="tx1"/>
                </a:solidFill>
              </a:rPr>
              <a:t>宣纸米白底、茶色主色调、淡杏装饰色，半透卡片分层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 sz="2400" b="1">
                <a:solidFill>
                  <a:schemeClr val="tx1"/>
                </a:solidFill>
              </a:rPr>
              <a:t>核心交互</a:t>
            </a:r>
            <a:endParaRPr lang="zh-CN" altLang="en-US" sz="2400" b="1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分类筛选：</a:t>
            </a:r>
            <a:r>
              <a:rPr lang="zh-CN" altLang="en-US">
                <a:solidFill>
                  <a:schemeClr val="tx1"/>
                </a:solidFill>
              </a:rPr>
              <a:t>点击切换渲染对应产品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平滑滚动：</a:t>
            </a:r>
            <a:r>
              <a:rPr lang="zh-CN" altLang="en-US">
                <a:solidFill>
                  <a:schemeClr val="tx1"/>
                </a:solidFill>
              </a:rPr>
              <a:t>导航锚点跳转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按钮 </a:t>
            </a:r>
            <a:r>
              <a:rPr lang="en-US" altLang="zh-CN" b="1">
                <a:solidFill>
                  <a:schemeClr val="tx1"/>
                </a:solidFill>
              </a:rPr>
              <a:t>hover </a:t>
            </a:r>
            <a:r>
              <a:rPr lang="zh-CN" altLang="en-US" b="1">
                <a:solidFill>
                  <a:schemeClr val="tx1"/>
                </a:solidFill>
              </a:rPr>
              <a:t>动态反馈</a:t>
            </a:r>
            <a:endParaRPr lang="zh-CN" altLang="en-US" b="1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数据结构：</a:t>
            </a:r>
            <a:r>
              <a:rPr lang="zh-CN" altLang="en-US">
                <a:solidFill>
                  <a:schemeClr val="tx1"/>
                </a:solidFill>
              </a:rPr>
              <a:t>分类数组、文创产品数组存储页面展示内容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29260" y="2146300"/>
            <a:ext cx="2779395" cy="629285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62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13455" y="327095"/>
            <a:ext cx="10969200" cy="705600"/>
          </a:xfrm>
        </p:spPr>
        <p:txBody>
          <a:bodyPr/>
          <a:p>
            <a:r>
              <a:rPr lang="zh-CN" altLang="en-US" sz="2400" b="1">
                <a:solidFill>
                  <a:schemeClr val="tx1"/>
                </a:solidFill>
                <a:sym typeface="+mn-ea"/>
              </a:rPr>
              <a:t>四、详细设计实现</a:t>
            </a:r>
            <a:endParaRPr lang="zh-CN" altLang="en-US" sz="24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276860" y="1216660"/>
            <a:ext cx="11300460" cy="5033010"/>
          </a:xfrm>
          <a:noFill/>
        </p:spPr>
        <p:txBody>
          <a:bodyPr/>
          <a:p>
            <a:r>
              <a:rPr lang="zh-CN" altLang="en-US" b="1">
                <a:solidFill>
                  <a:schemeClr val="tx1"/>
                </a:solidFill>
              </a:rPr>
              <a:t>页面布局：</a:t>
            </a:r>
            <a:r>
              <a:rPr lang="zh-CN" altLang="en-US">
                <a:solidFill>
                  <a:schemeClr val="tx1"/>
                </a:solidFill>
              </a:rPr>
              <a:t>头部→主视觉 </a:t>
            </a:r>
            <a:r>
              <a:rPr lang="en-US" altLang="zh-CN">
                <a:solidFill>
                  <a:schemeClr val="tx1"/>
                </a:solidFill>
              </a:rPr>
              <a:t>Banner→</a:t>
            </a:r>
            <a:r>
              <a:rPr lang="zh-CN" altLang="en-US">
                <a:solidFill>
                  <a:schemeClr val="tx1"/>
                </a:solidFill>
              </a:rPr>
              <a:t>产品区→品牌故事→页脚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视觉配色：</a:t>
            </a:r>
            <a:r>
              <a:rPr lang="zh-CN" altLang="en-US">
                <a:solidFill>
                  <a:schemeClr val="tx1"/>
                </a:solidFill>
              </a:rPr>
              <a:t>宣纸米白底、茶色主色调、淡杏装饰色，半透卡片分层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核心交互</a:t>
            </a:r>
            <a:endParaRPr lang="zh-CN" altLang="en-US" b="1">
              <a:solidFill>
                <a:schemeClr val="tx1"/>
              </a:solidFill>
            </a:endParaRPr>
          </a:p>
          <a:p>
            <a:r>
              <a:rPr lang="zh-CN" altLang="en-US" sz="2400" b="1">
                <a:solidFill>
                  <a:schemeClr val="tx1"/>
                </a:solidFill>
              </a:rPr>
              <a:t>分类筛选：</a:t>
            </a:r>
            <a:r>
              <a:rPr lang="zh-CN" altLang="en-US" sz="2400">
                <a:solidFill>
                  <a:schemeClr val="tx1"/>
                </a:solidFill>
              </a:rPr>
              <a:t>点击切换渲染对应产品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平滑滚动：</a:t>
            </a:r>
            <a:r>
              <a:rPr lang="zh-CN" altLang="en-US">
                <a:solidFill>
                  <a:schemeClr val="tx1"/>
                </a:solidFill>
              </a:rPr>
              <a:t>导航锚点跳转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按钮 </a:t>
            </a:r>
            <a:r>
              <a:rPr lang="en-US" altLang="zh-CN" b="1">
                <a:solidFill>
                  <a:schemeClr val="tx1"/>
                </a:solidFill>
              </a:rPr>
              <a:t>hover </a:t>
            </a:r>
            <a:r>
              <a:rPr lang="zh-CN" altLang="en-US" b="1">
                <a:solidFill>
                  <a:schemeClr val="tx1"/>
                </a:solidFill>
              </a:rPr>
              <a:t>动态反馈</a:t>
            </a:r>
            <a:endParaRPr lang="zh-CN" altLang="en-US" b="1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数据结构：</a:t>
            </a:r>
            <a:r>
              <a:rPr lang="zh-CN" altLang="en-US">
                <a:solidFill>
                  <a:schemeClr val="tx1"/>
                </a:solidFill>
              </a:rPr>
              <a:t>分类数组、文创产品数组存储页面展示内容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275590" y="2698750"/>
            <a:ext cx="5957570" cy="568325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62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13455" y="327095"/>
            <a:ext cx="10969200" cy="705600"/>
          </a:xfrm>
        </p:spPr>
        <p:txBody>
          <a:bodyPr/>
          <a:p>
            <a:r>
              <a:rPr lang="zh-CN" altLang="en-US" sz="2400" b="1">
                <a:solidFill>
                  <a:schemeClr val="tx1"/>
                </a:solidFill>
                <a:sym typeface="+mn-ea"/>
              </a:rPr>
              <a:t>四、详细设计实现</a:t>
            </a:r>
            <a:endParaRPr lang="zh-CN" altLang="en-US" sz="24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276860" y="1216660"/>
            <a:ext cx="11300460" cy="5033010"/>
          </a:xfrm>
          <a:noFill/>
        </p:spPr>
        <p:txBody>
          <a:bodyPr/>
          <a:p>
            <a:r>
              <a:rPr lang="zh-CN" altLang="en-US" b="1">
                <a:solidFill>
                  <a:schemeClr val="tx1"/>
                </a:solidFill>
              </a:rPr>
              <a:t>页面布局：</a:t>
            </a:r>
            <a:r>
              <a:rPr lang="zh-CN" altLang="en-US">
                <a:solidFill>
                  <a:schemeClr val="tx1"/>
                </a:solidFill>
              </a:rPr>
              <a:t>头部→主视觉 </a:t>
            </a:r>
            <a:r>
              <a:rPr lang="en-US" altLang="zh-CN">
                <a:solidFill>
                  <a:schemeClr val="tx1"/>
                </a:solidFill>
              </a:rPr>
              <a:t>Banner→</a:t>
            </a:r>
            <a:r>
              <a:rPr lang="zh-CN" altLang="en-US">
                <a:solidFill>
                  <a:schemeClr val="tx1"/>
                </a:solidFill>
              </a:rPr>
              <a:t>产品区→品牌故事→页脚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视觉配色：</a:t>
            </a:r>
            <a:r>
              <a:rPr lang="zh-CN" altLang="en-US">
                <a:solidFill>
                  <a:schemeClr val="tx1"/>
                </a:solidFill>
              </a:rPr>
              <a:t>宣纸米白底、茶色主色调、淡杏装饰色，半透卡片分层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核心交互</a:t>
            </a:r>
            <a:endParaRPr lang="zh-CN" altLang="en-US" b="1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分类筛选：</a:t>
            </a:r>
            <a:r>
              <a:rPr lang="zh-CN" altLang="en-US">
                <a:solidFill>
                  <a:schemeClr val="tx1"/>
                </a:solidFill>
              </a:rPr>
              <a:t>点击切换渲染对应产品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 sz="2400" b="1">
                <a:solidFill>
                  <a:schemeClr val="tx1"/>
                </a:solidFill>
              </a:rPr>
              <a:t>平滑滚动：</a:t>
            </a:r>
            <a:r>
              <a:rPr lang="zh-CN" altLang="en-US" sz="2400">
                <a:solidFill>
                  <a:schemeClr val="tx1"/>
                </a:solidFill>
              </a:rPr>
              <a:t>导航锚点跳转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按钮 </a:t>
            </a:r>
            <a:r>
              <a:rPr lang="en-US" altLang="zh-CN" b="1">
                <a:solidFill>
                  <a:schemeClr val="tx1"/>
                </a:solidFill>
              </a:rPr>
              <a:t>hover </a:t>
            </a:r>
            <a:r>
              <a:rPr lang="zh-CN" altLang="en-US" b="1">
                <a:solidFill>
                  <a:schemeClr val="tx1"/>
                </a:solidFill>
              </a:rPr>
              <a:t>动态反馈</a:t>
            </a:r>
            <a:endParaRPr lang="zh-CN" altLang="en-US" b="1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数据结构：</a:t>
            </a:r>
            <a:r>
              <a:rPr lang="zh-CN" altLang="en-US">
                <a:solidFill>
                  <a:schemeClr val="tx1"/>
                </a:solidFill>
              </a:rPr>
              <a:t>分类数组、文创产品数组存储页面展示内容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337185" y="3190240"/>
            <a:ext cx="5865495" cy="645160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62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13455" y="327095"/>
            <a:ext cx="10969200" cy="705600"/>
          </a:xfrm>
        </p:spPr>
        <p:txBody>
          <a:bodyPr/>
          <a:p>
            <a:r>
              <a:rPr lang="zh-CN" altLang="en-US" sz="2400" b="1">
                <a:solidFill>
                  <a:schemeClr val="tx1"/>
                </a:solidFill>
                <a:sym typeface="+mn-ea"/>
              </a:rPr>
              <a:t>四、详细设计实现</a:t>
            </a:r>
            <a:endParaRPr lang="zh-CN" altLang="en-US" sz="24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276860" y="1216660"/>
            <a:ext cx="11300460" cy="5033010"/>
          </a:xfrm>
          <a:noFill/>
        </p:spPr>
        <p:txBody>
          <a:bodyPr/>
          <a:p>
            <a:r>
              <a:rPr lang="zh-CN" altLang="en-US" b="1">
                <a:solidFill>
                  <a:schemeClr val="tx1"/>
                </a:solidFill>
              </a:rPr>
              <a:t>页面布局：</a:t>
            </a:r>
            <a:r>
              <a:rPr lang="zh-CN" altLang="en-US">
                <a:solidFill>
                  <a:schemeClr val="tx1"/>
                </a:solidFill>
              </a:rPr>
              <a:t>头部→主视觉 </a:t>
            </a:r>
            <a:r>
              <a:rPr lang="en-US" altLang="zh-CN">
                <a:solidFill>
                  <a:schemeClr val="tx1"/>
                </a:solidFill>
              </a:rPr>
              <a:t>Banner→</a:t>
            </a:r>
            <a:r>
              <a:rPr lang="zh-CN" altLang="en-US">
                <a:solidFill>
                  <a:schemeClr val="tx1"/>
                </a:solidFill>
              </a:rPr>
              <a:t>产品区→品牌故事→页脚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视觉配色：</a:t>
            </a:r>
            <a:r>
              <a:rPr lang="zh-CN" altLang="en-US">
                <a:solidFill>
                  <a:schemeClr val="tx1"/>
                </a:solidFill>
              </a:rPr>
              <a:t>宣纸米白底、茶色主色调、淡杏装饰色，半透卡片分层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核心交互</a:t>
            </a:r>
            <a:endParaRPr lang="zh-CN" altLang="en-US" b="1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分类筛选：</a:t>
            </a:r>
            <a:r>
              <a:rPr lang="zh-CN" altLang="en-US">
                <a:solidFill>
                  <a:schemeClr val="tx1"/>
                </a:solidFill>
              </a:rPr>
              <a:t>点击切换渲染对应产品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平滑滚动：</a:t>
            </a:r>
            <a:r>
              <a:rPr lang="zh-CN" altLang="en-US">
                <a:solidFill>
                  <a:schemeClr val="tx1"/>
                </a:solidFill>
              </a:rPr>
              <a:t>导航锚点跳转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 sz="2400" b="1">
                <a:solidFill>
                  <a:schemeClr val="tx1"/>
                </a:solidFill>
              </a:rPr>
              <a:t>按钮 </a:t>
            </a:r>
            <a:r>
              <a:rPr lang="en-US" altLang="zh-CN" sz="2400" b="1">
                <a:solidFill>
                  <a:schemeClr val="tx1"/>
                </a:solidFill>
              </a:rPr>
              <a:t>hover </a:t>
            </a:r>
            <a:r>
              <a:rPr lang="zh-CN" altLang="en-US" sz="2400" b="1">
                <a:solidFill>
                  <a:schemeClr val="tx1"/>
                </a:solidFill>
              </a:rPr>
              <a:t>动态反馈</a:t>
            </a:r>
            <a:endParaRPr lang="zh-CN" altLang="en-US" sz="2400" b="1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数据结构：</a:t>
            </a:r>
            <a:r>
              <a:rPr lang="zh-CN" altLang="en-US">
                <a:solidFill>
                  <a:schemeClr val="tx1"/>
                </a:solidFill>
              </a:rPr>
              <a:t>分类数组、文创产品数组存储页面展示内容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44500" y="3635375"/>
            <a:ext cx="4622165" cy="721995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62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13455" y="327095"/>
            <a:ext cx="10969200" cy="705600"/>
          </a:xfrm>
        </p:spPr>
        <p:txBody>
          <a:bodyPr/>
          <a:p>
            <a:r>
              <a:rPr lang="zh-CN" altLang="en-US" sz="2400" b="1">
                <a:solidFill>
                  <a:schemeClr val="tx1"/>
                </a:solidFill>
                <a:sym typeface="+mn-ea"/>
              </a:rPr>
              <a:t>四、详细设计实现</a:t>
            </a:r>
            <a:endParaRPr lang="zh-CN" altLang="en-US" sz="24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276860" y="1216660"/>
            <a:ext cx="11300460" cy="5033010"/>
          </a:xfrm>
          <a:noFill/>
        </p:spPr>
        <p:txBody>
          <a:bodyPr/>
          <a:p>
            <a:r>
              <a:rPr lang="zh-CN" altLang="en-US" b="1">
                <a:solidFill>
                  <a:schemeClr val="tx1"/>
                </a:solidFill>
              </a:rPr>
              <a:t>页面布局：</a:t>
            </a:r>
            <a:r>
              <a:rPr lang="zh-CN" altLang="en-US">
                <a:solidFill>
                  <a:schemeClr val="tx1"/>
                </a:solidFill>
              </a:rPr>
              <a:t>头部→主视觉 </a:t>
            </a:r>
            <a:r>
              <a:rPr lang="en-US" altLang="zh-CN">
                <a:solidFill>
                  <a:schemeClr val="tx1"/>
                </a:solidFill>
              </a:rPr>
              <a:t>Banner→</a:t>
            </a:r>
            <a:r>
              <a:rPr lang="zh-CN" altLang="en-US">
                <a:solidFill>
                  <a:schemeClr val="tx1"/>
                </a:solidFill>
              </a:rPr>
              <a:t>产品区→品牌故事→页脚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视觉配色：</a:t>
            </a:r>
            <a:r>
              <a:rPr lang="zh-CN" altLang="en-US">
                <a:solidFill>
                  <a:schemeClr val="tx1"/>
                </a:solidFill>
              </a:rPr>
              <a:t>宣纸米白底、茶色主色调、淡杏装饰色，半透卡片分层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核心交互</a:t>
            </a:r>
            <a:endParaRPr lang="zh-CN" altLang="en-US" b="1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分类筛选：</a:t>
            </a:r>
            <a:r>
              <a:rPr lang="zh-CN" altLang="en-US">
                <a:solidFill>
                  <a:schemeClr val="tx1"/>
                </a:solidFill>
              </a:rPr>
              <a:t>点击切换渲染对应产品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平滑滚动：</a:t>
            </a:r>
            <a:r>
              <a:rPr lang="zh-CN" altLang="en-US">
                <a:solidFill>
                  <a:schemeClr val="tx1"/>
                </a:solidFill>
              </a:rPr>
              <a:t>导航锚点跳转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按钮 </a:t>
            </a:r>
            <a:r>
              <a:rPr lang="en-US" altLang="zh-CN" b="1">
                <a:solidFill>
                  <a:schemeClr val="tx1"/>
                </a:solidFill>
              </a:rPr>
              <a:t>hover </a:t>
            </a:r>
            <a:r>
              <a:rPr lang="zh-CN" altLang="en-US" b="1">
                <a:solidFill>
                  <a:schemeClr val="tx1"/>
                </a:solidFill>
              </a:rPr>
              <a:t>动态反馈</a:t>
            </a:r>
            <a:endParaRPr lang="zh-CN" altLang="en-US" b="1">
              <a:solidFill>
                <a:schemeClr val="tx1"/>
              </a:solidFill>
            </a:endParaRPr>
          </a:p>
          <a:p>
            <a:r>
              <a:rPr lang="zh-CN" altLang="en-US" sz="2400" b="1">
                <a:solidFill>
                  <a:schemeClr val="tx1"/>
                </a:solidFill>
              </a:rPr>
              <a:t>数据结构：</a:t>
            </a:r>
            <a:r>
              <a:rPr lang="zh-CN" altLang="en-US" sz="2400">
                <a:solidFill>
                  <a:schemeClr val="tx1"/>
                </a:solidFill>
              </a:rPr>
              <a:t>分类数组、文创产品数组存储页面展示内容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74980" y="4142105"/>
            <a:ext cx="8383905" cy="721995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62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70275" y="341065"/>
            <a:ext cx="10969200" cy="705600"/>
          </a:xfrm>
        </p:spPr>
        <p:txBody>
          <a:bodyPr/>
          <a:p>
            <a:r>
              <a:rPr lang="zh-CN" altLang="en-US" sz="2400" b="1">
                <a:solidFill>
                  <a:schemeClr val="tx1"/>
                </a:solidFill>
                <a:sym typeface="+mn-ea"/>
              </a:rPr>
              <a:t>五、</a:t>
            </a:r>
            <a:r>
              <a:rPr lang="zh-CN" altLang="en-US" sz="2400" b="1"/>
              <a:t>功能测试</a:t>
            </a:r>
            <a:endParaRPr lang="zh-CN" altLang="en-US" sz="2400" b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126355" y="1490345"/>
            <a:ext cx="6450965" cy="4759325"/>
          </a:xfrm>
        </p:spPr>
        <p:txBody>
          <a:bodyPr/>
          <a:p>
            <a:pPr marL="0" indent="0">
              <a:buNone/>
            </a:pPr>
            <a:r>
              <a:rPr lang="zh-CN" altLang="en-US" b="1" i="1">
                <a:solidFill>
                  <a:schemeClr val="tx1"/>
                </a:solidFill>
              </a:rPr>
              <a:t>全部测试用例执行通过，核心验证点：</a:t>
            </a:r>
            <a:endParaRPr lang="zh-CN" altLang="en-US" b="1" i="1">
              <a:solidFill>
                <a:schemeClr val="tx1"/>
              </a:solidFill>
            </a:endParaRPr>
          </a:p>
          <a:p>
            <a:r>
              <a:rPr lang="zh-CN" altLang="en-US" b="1" i="1">
                <a:solidFill>
                  <a:schemeClr val="tx1"/>
                </a:solidFill>
              </a:rPr>
              <a:t>页面加载正常，手机 / 平板 / 电脑自适应无错乱</a:t>
            </a:r>
            <a:endParaRPr lang="zh-CN" altLang="en-US" b="1" i="1">
              <a:solidFill>
                <a:schemeClr val="tx1"/>
              </a:solidFill>
            </a:endParaRPr>
          </a:p>
          <a:p>
            <a:r>
              <a:rPr lang="zh-CN" altLang="en-US" b="1" i="1">
                <a:solidFill>
                  <a:schemeClr val="tx1"/>
                </a:solidFill>
              </a:rPr>
              <a:t>导航、按钮平滑跳转功能正常</a:t>
            </a:r>
            <a:endParaRPr lang="zh-CN" altLang="en-US" b="1" i="1">
              <a:solidFill>
                <a:schemeClr val="tx1"/>
              </a:solidFill>
            </a:endParaRPr>
          </a:p>
          <a:p>
            <a:r>
              <a:rPr lang="zh-CN" altLang="en-US" b="1" i="1">
                <a:solidFill>
                  <a:schemeClr val="tx1"/>
                </a:solidFill>
              </a:rPr>
              <a:t>四大产品分类筛选精准匹配商品</a:t>
            </a:r>
            <a:endParaRPr lang="zh-CN" altLang="en-US" b="1" i="1">
              <a:solidFill>
                <a:schemeClr val="tx1"/>
              </a:solidFill>
            </a:endParaRPr>
          </a:p>
          <a:p>
            <a:r>
              <a:rPr lang="zh-CN" altLang="en-US" b="1" i="1">
                <a:solidFill>
                  <a:schemeClr val="tx1"/>
                </a:solidFill>
              </a:rPr>
              <a:t>弹窗、按钮交互反馈完整</a:t>
            </a:r>
            <a:endParaRPr lang="zh-CN" altLang="en-US" b="1" i="1">
              <a:solidFill>
                <a:schemeClr val="tx1"/>
              </a:solidFill>
            </a:endParaRPr>
          </a:p>
          <a:p>
            <a:r>
              <a:rPr lang="zh-CN" altLang="en-US" b="1" i="1">
                <a:solidFill>
                  <a:schemeClr val="tx1"/>
                </a:solidFill>
              </a:rPr>
              <a:t>结论：页面全部功能满足前期需求标准</a:t>
            </a:r>
            <a:endParaRPr lang="zh-CN" altLang="en-US" b="1" i="1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62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8685" y="391865"/>
            <a:ext cx="10969200" cy="705600"/>
          </a:xfrm>
        </p:spPr>
        <p:txBody>
          <a:bodyPr/>
          <a:p>
            <a:r>
              <a:rPr lang="zh-CN" altLang="en-US"/>
              <a:t> </a:t>
            </a:r>
            <a:r>
              <a:rPr lang="zh-CN" altLang="en-US" sz="2400" b="1"/>
              <a:t>六</a:t>
            </a:r>
            <a:r>
              <a:rPr lang="zh-CN" altLang="en-US" sz="2400" b="1">
                <a:solidFill>
                  <a:schemeClr val="tx1"/>
                </a:solidFill>
                <a:sym typeface="+mn-ea"/>
              </a:rPr>
              <a:t>、</a:t>
            </a:r>
            <a:r>
              <a:rPr lang="zh-CN" altLang="en-US" sz="2400" b="1"/>
              <a:t>项目成果展示</a:t>
            </a:r>
            <a:endParaRPr lang="zh-CN" altLang="en-US" sz="2400" b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2117725" y="1097915"/>
            <a:ext cx="5420995" cy="1524635"/>
          </a:xfrm>
        </p:spPr>
        <p:txBody>
          <a:bodyPr>
            <a:noAutofit/>
          </a:bodyPr>
          <a:p>
            <a:r>
              <a:rPr lang="zh-CN" altLang="en-US" sz="1400">
                <a:solidFill>
                  <a:schemeClr val="tx1"/>
                </a:solidFill>
              </a:rPr>
              <a:t>可直接运行国风文创单页网站</a:t>
            </a:r>
            <a:endParaRPr lang="zh-CN" altLang="en-US" sz="1400">
              <a:solidFill>
                <a:schemeClr val="tx1"/>
              </a:solidFill>
            </a:endParaRPr>
          </a:p>
          <a:p>
            <a:r>
              <a:rPr lang="zh-CN" altLang="en-US" sz="1400">
                <a:solidFill>
                  <a:schemeClr val="tx1"/>
                </a:solidFill>
              </a:rPr>
              <a:t>统一国风视觉，完整交互逻辑</a:t>
            </a:r>
            <a:endParaRPr lang="zh-CN" altLang="en-US" sz="1400">
              <a:solidFill>
                <a:schemeClr val="tx1"/>
              </a:solidFill>
            </a:endParaRPr>
          </a:p>
          <a:p>
            <a:r>
              <a:rPr lang="zh-CN" altLang="en-US" sz="1400">
                <a:solidFill>
                  <a:schemeClr val="tx1"/>
                </a:solidFill>
              </a:rPr>
              <a:t>项目亮点：轻量化原生前端开发、</a:t>
            </a:r>
            <a:r>
              <a:rPr lang="en-US" altLang="zh-CN" sz="1400">
                <a:solidFill>
                  <a:schemeClr val="tx1"/>
                </a:solidFill>
              </a:rPr>
              <a:t>AI </a:t>
            </a:r>
            <a:r>
              <a:rPr lang="zh-CN" altLang="en-US" sz="1400">
                <a:solidFill>
                  <a:schemeClr val="tx1"/>
                </a:solidFill>
              </a:rPr>
              <a:t>辅助提升编码效率、完整标准化开发流程</a:t>
            </a:r>
            <a:endParaRPr lang="zh-CN" altLang="en-US" sz="14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553575" y="550545"/>
            <a:ext cx="1905000" cy="275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/>
              <a:t>（</a:t>
            </a:r>
            <a:r>
              <a:rPr lang="zh-CN" altLang="en-US" sz="1200"/>
              <a:t>移动端单页网站）</a:t>
            </a:r>
            <a:endParaRPr lang="zh-CN" altLang="en-US" sz="1200"/>
          </a:p>
        </p:txBody>
      </p:sp>
      <p:pic>
        <p:nvPicPr>
          <p:cNvPr id="7" name="图片 6" descr="微信图片_20260715173054_271_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0150" y="760095"/>
            <a:ext cx="3371850" cy="5999480"/>
          </a:xfrm>
          <a:prstGeom prst="rect">
            <a:avLst/>
          </a:prstGeom>
        </p:spPr>
      </p:pic>
      <p:pic>
        <p:nvPicPr>
          <p:cNvPr id="8" name="图片 7" descr="屏幕截图 2026-07-15 1736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8565" y="2621915"/>
            <a:ext cx="6320155" cy="42360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538720" y="3839845"/>
            <a:ext cx="4114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pc</a:t>
            </a:r>
            <a:r>
              <a:rPr lang="zh-CN" altLang="en-US" sz="1200"/>
              <a:t>端单页网站</a:t>
            </a:r>
            <a:endParaRPr lang="zh-CN" altLang="en-US" sz="1200"/>
          </a:p>
        </p:txBody>
      </p:sp>
    </p:spTree>
    <p:custDataLst>
      <p:tags r:id="rId6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62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05505" y="305505"/>
            <a:ext cx="10969200" cy="705600"/>
          </a:xfrm>
        </p:spPr>
        <p:txBody>
          <a:bodyPr/>
          <a:p>
            <a:r>
              <a:rPr lang="zh-CN" altLang="en-US" sz="2400">
                <a:sym typeface="+mn-ea"/>
              </a:rPr>
              <a:t>七</a:t>
            </a:r>
            <a:r>
              <a:rPr lang="zh-CN" altLang="en-US" sz="2400">
                <a:solidFill>
                  <a:schemeClr val="tx1"/>
                </a:solidFill>
                <a:sym typeface="+mn-ea"/>
              </a:rPr>
              <a:t>、</a:t>
            </a:r>
            <a:r>
              <a:rPr lang="zh-CN" altLang="en-US" sz="2400"/>
              <a:t>项目不足与优化方向</a:t>
            </a:r>
            <a:endParaRPr lang="zh-CN" altLang="en-US" sz="240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708775" y="1584325"/>
            <a:ext cx="4822825" cy="2433955"/>
          </a:xfrm>
          <a:solidFill>
            <a:schemeClr val="accent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rgbClr val="FFFFFF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>
            <a:normAutofit fontScale="90000" lnSpcReduction="20000"/>
          </a:bodyPr>
          <a:p>
            <a:pPr marL="0" indent="0" algn="ctr">
              <a:lnSpc>
                <a:spcPct val="150000"/>
              </a:lnSpc>
              <a:buNone/>
            </a:pPr>
            <a:r>
              <a:rPr lang="zh-CN" altLang="en-US" sz="2700">
                <a:solidFill>
                  <a:schemeClr val="tx1"/>
                </a:solidFill>
              </a:rPr>
              <a:t>后续改进方案</a:t>
            </a:r>
            <a:endParaRPr lang="zh-CN" altLang="en-US" sz="2700">
              <a:solidFill>
                <a:schemeClr val="tx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>
                <a:solidFill>
                  <a:schemeClr val="tx1"/>
                </a:solidFill>
              </a:rPr>
              <a:t>对接后端接口分离数据、</a:t>
            </a:r>
            <a:endParaRPr lang="zh-CN" altLang="en-US">
              <a:solidFill>
                <a:schemeClr val="tx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>
                <a:solidFill>
                  <a:schemeClr val="tx1"/>
                </a:solidFill>
              </a:rPr>
              <a:t>新增购物车、</a:t>
            </a:r>
            <a:endParaRPr lang="zh-CN" altLang="en-US">
              <a:solidFill>
                <a:schemeClr val="tx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>
                <a:solidFill>
                  <a:schemeClr val="tx1"/>
                </a:solidFill>
              </a:rPr>
              <a:t>使用 </a:t>
            </a:r>
            <a:r>
              <a:rPr lang="en-US" altLang="zh-CN">
                <a:solidFill>
                  <a:schemeClr val="tx1"/>
                </a:solidFill>
              </a:rPr>
              <a:t>Intersection Observer </a:t>
            </a:r>
            <a:r>
              <a:rPr lang="zh-CN" altLang="en-US">
                <a:solidFill>
                  <a:schemeClr val="tx1"/>
                </a:solidFill>
              </a:rPr>
              <a:t>添加滚动动画、</a:t>
            </a:r>
            <a:endParaRPr lang="zh-CN" altLang="en-US">
              <a:solidFill>
                <a:schemeClr val="tx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>
                <a:solidFill>
                  <a:schemeClr val="tx1"/>
                </a:solidFill>
              </a:rPr>
              <a:t>扩充品牌文化内容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55955" y="1584325"/>
            <a:ext cx="5450205" cy="24339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rgbClr val="FFFFFF"/>
          </a:lnRef>
          <a:fillRef idx="2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noAutofit/>
          </a:bodyPr>
          <a:p>
            <a:pPr algn="ctr">
              <a:lnSpc>
                <a:spcPct val="150000"/>
              </a:lnSpc>
            </a:pPr>
            <a:r>
              <a:rPr lang="zh-CN" altLang="en-US" sz="2400">
                <a:solidFill>
                  <a:schemeClr val="tx1"/>
                </a:solidFill>
              </a:rPr>
              <a:t>现有缺陷</a:t>
            </a:r>
            <a:endParaRPr lang="zh-CN" altLang="en-US" sz="240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>
                <a:solidFill>
                  <a:schemeClr val="tx1"/>
                </a:solidFill>
              </a:rPr>
              <a:t>购买按钮仅展示，无购物下单流程</a:t>
            </a:r>
            <a:endParaRPr lang="zh-CN" altLang="en-US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>
                <a:solidFill>
                  <a:schemeClr val="tx1"/>
                </a:solidFill>
              </a:rPr>
              <a:t>产品数据硬编码，不方便后期维护</a:t>
            </a:r>
            <a:endParaRPr lang="zh-CN" altLang="en-US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>
                <a:solidFill>
                  <a:schemeClr val="tx1"/>
                </a:solidFill>
              </a:rPr>
              <a:t>页面动画效果单一，缺少滚动入场动画</a:t>
            </a:r>
            <a:endParaRPr lang="zh-CN" altLang="en-US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>
                <a:solidFill>
                  <a:schemeClr val="tx1"/>
                </a:solidFill>
              </a:rPr>
              <a:t>品牌故事板块内容单薄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62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2802890" y="2449830"/>
            <a:ext cx="6240780" cy="2524125"/>
          </a:xfrm>
        </p:spPr>
        <p:txBody>
          <a:bodyPr/>
          <a:p>
            <a:pPr marL="0" indent="0">
              <a:buNone/>
            </a:pPr>
            <a:r>
              <a:rPr lang="zh-CN" altLang="en-US"/>
              <a:t>感谢陈一航老师的指导，感谢组员通力配合。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本次实习</a:t>
            </a:r>
            <a:r>
              <a:rPr lang="zh-CN" altLang="en-US"/>
              <a:t>我们完整实践前端开发与 </a:t>
            </a:r>
            <a:r>
              <a:rPr lang="en-US" altLang="zh-CN"/>
              <a:t>AI </a:t>
            </a:r>
            <a:r>
              <a:rPr lang="zh-CN" altLang="en-US"/>
              <a:t>辅助编程，积累团队项目实战经验。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感谢各位老师同学聆听，</a:t>
            </a:r>
            <a:r>
              <a:rPr lang="zh-CN" altLang="en-US"/>
              <a:t>恳请指正！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002280" y="608330"/>
            <a:ext cx="526288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7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 sz="7200" b="1"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致谢 &amp; 结束</a:t>
            </a:r>
            <a:endParaRPr lang="zh-CN" altLang="en-US" sz="7200" b="1">
              <a:solidFill>
                <a:schemeClr val="bg2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de303542f6622486202509b1e53bc1a5f418546"/>
  <p:tag name="KSO_WM_NEWLAYOUT_ID" val="slide_a736eb13ee1e7479"/>
</p:tagLst>
</file>

<file path=ppt/tags/tag5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6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fgm#"/>
  <p:tag name="KSO_WM_FIGMA_FLAG" val="#fgm#"/>
  <p:tag name="KSO_WM_UNIT_INDEX" val="1"/>
  <p:tag name="KSO_WM_UNIT_TYPE" val="a"/>
  <p:tag name="KSO_WM_LAYOUT_CHECK_HASH" val="ade303542f6622486202509b1e53bc1a5f418546"/>
  <p:tag name="KSO_WM_NEWLAYOUT_ID" val="slide_a736eb13ee1e7479"/>
</p:tagLst>
</file>

<file path=ppt/tags/tag7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TEMPLATE_SLIDE_ID" val="slide_a736eb13ee1e7479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2106</Words>
  <Application>WPS 演示</Application>
  <PresentationFormat>宽屏</PresentationFormat>
  <Paragraphs>196</Paragraphs>
  <Slides>17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华文楷体</vt:lpstr>
      <vt:lpstr>华文行楷</vt:lpstr>
      <vt:lpstr>微软雅黑 Light</vt:lpstr>
      <vt:lpstr>方正姚体</vt:lpstr>
      <vt:lpstr>WPS</vt:lpstr>
      <vt:lpstr>基于AI辅助开发的国风文创品牌展示页面设计与实现</vt:lpstr>
      <vt:lpstr>一、项目概述 </vt:lpstr>
      <vt:lpstr>三、需求分析</vt:lpstr>
      <vt:lpstr>四、整体方案设计</vt:lpstr>
      <vt:lpstr>五、详细设计实现</vt:lpstr>
      <vt:lpstr>四、详细设计实现</vt:lpstr>
      <vt:lpstr>四、详细设计实现</vt:lpstr>
      <vt:lpstr>四、详细设计实现</vt:lpstr>
      <vt:lpstr>四、详细设计实现</vt:lpstr>
      <vt:lpstr>四、详细设计实现</vt:lpstr>
      <vt:lpstr>四、详细设计实现</vt:lpstr>
      <vt:lpstr>四、详细设计实现</vt:lpstr>
      <vt:lpstr>四、详细设计实现</vt:lpstr>
      <vt:lpstr>六、功能测试</vt:lpstr>
      <vt:lpstr> 七、项目成果展示</vt:lpstr>
      <vt:lpstr>七、项目不足与优化方向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肖林兰钰</cp:lastModifiedBy>
  <cp:revision>168</cp:revision>
  <dcterms:created xsi:type="dcterms:W3CDTF">2019-06-19T02:08:00Z</dcterms:created>
  <dcterms:modified xsi:type="dcterms:W3CDTF">2026-07-16T03:59:37Z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FDF6480C6F9F4236AC91011457AE384A_13</vt:lpwstr>
  </property>
</Properties>
</file>